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ENVA — 100 Million Trees Initiative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Evidence-Based Smart Afforestation Planning System</a:t>
            </a:r>
          </a:p>
          <a:p>
            <a:r>
              <a:t>Kafr El Dawwar City — CITY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Proposed trees: 23,000</a:t>
            </a:r>
          </a:p>
          <a:p>
            <a:pPr>
              <a:defRPr sz="1800"/>
            </a:pPr>
            <a:r>
              <a:t>Road segments: 6,454</a:t>
            </a:r>
          </a:p>
          <a:p>
            <a:pPr>
              <a:defRPr sz="1800"/>
            </a:pPr>
            <a:r>
              <a:t>Eligible planting length: 179.96 km</a:t>
            </a:r>
          </a:p>
          <a:p>
            <a:pPr>
              <a:defRPr sz="1800"/>
            </a:pPr>
            <a:r>
              <a:t>High-priority streets: 1,710</a:t>
            </a:r>
          </a:p>
          <a:p>
            <a:pPr>
              <a:defRPr sz="1800"/>
            </a:pPr>
            <a:r>
              <a:t>Estimated daily water: 345,000 L/day</a:t>
            </a:r>
          </a:p>
          <a:p>
            <a:pPr>
              <a:defRPr sz="1800"/>
            </a:pPr>
            <a:r>
              <a:t>Estimated tree cost: 11,500,000 EGP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Heat context — 35%</a:t>
            </a:r>
          </a:p>
          <a:p>
            <a:pPr>
              <a:defRPr sz="1800"/>
            </a:pPr>
            <a:r>
              <a:t>Vegetation deficit — 35%</a:t>
            </a:r>
          </a:p>
          <a:p>
            <a:pPr>
              <a:defRPr sz="1800"/>
            </a:pPr>
            <a:r>
              <a:t>Planting feasibility — 30%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High: 1,710 streets</a:t>
            </a:r>
          </a:p>
          <a:p>
            <a:pPr>
              <a:defRPr sz="1800"/>
            </a:pPr>
            <a:r>
              <a:t>Medium: 4,726 streets</a:t>
            </a:r>
          </a:p>
          <a:p>
            <a:pPr>
              <a:defRPr sz="1800"/>
            </a:pPr>
            <a:r>
              <a:t>Low: 18 streets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Measured — source geometry/data</a:t>
            </a:r>
          </a:p>
          <a:p>
            <a:pPr>
              <a:defRPr sz="1600"/>
            </a:pPr>
            <a:r>
              <a:t>Derived — deterministic calculation</a:t>
            </a:r>
          </a:p>
          <a:p>
            <a:pPr>
              <a:defRPr sz="1600"/>
            </a:pPr>
            <a:r>
              <a:t>Estimated — explicit assumption</a:t>
            </a:r>
          </a:p>
          <a:p>
            <a:pPr>
              <a:defRPr sz="1600"/>
            </a:pPr>
            <a:r>
              <a:t>Prototype — requires methodological/local validation</a:t>
            </a:r>
          </a:p>
          <a:p>
            <a:pPr>
              <a:defRPr sz="1600"/>
            </a:pPr>
            <a:r>
              <a:t>Field Validation Required — physical site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Estimated daily water: 345,000 liters</a:t>
            </a:r>
          </a:p>
          <a:p>
            <a:pPr>
              <a:defRPr sz="1800"/>
            </a:pPr>
            <a:r>
              <a:t>Estimated 30-day water: 10,350,000 liters</a:t>
            </a:r>
          </a:p>
          <a:p>
            <a:pPr>
              <a:defRPr sz="1800"/>
            </a:pPr>
            <a:r>
              <a:t>Prototype unit cost: 500 EGP/tree</a:t>
            </a:r>
          </a:p>
          <a:p>
            <a:pPr>
              <a:defRPr sz="1800"/>
            </a:pPr>
            <a:r>
              <a:t>Estimated tree portfolio cost: 11,500,000 EGP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Field verification of each candidate location</a:t>
            </a:r>
          </a:p>
          <a:p>
            <a:pPr>
              <a:defRPr sz="1600"/>
            </a:pPr>
            <a:r>
              <a:t>Utility and right-of-way verification</a:t>
            </a:r>
          </a:p>
          <a:p>
            <a:pPr>
              <a:defRPr sz="1600"/>
            </a:pPr>
            <a:r>
              <a:t>Local species suitability validation</a:t>
            </a:r>
          </a:p>
          <a:p>
            <a:pPr>
              <a:defRPr sz="1600"/>
            </a:pPr>
            <a:r>
              <a:t>Irrigation-demand calibration</a:t>
            </a:r>
          </a:p>
          <a:p>
            <a:pPr>
              <a:defRPr sz="1600"/>
            </a:pPr>
            <a:r>
              <a:t>Methodological review of priority weights</a:t>
            </a:r>
          </a:p>
          <a:p>
            <a:pPr>
              <a:defRPr sz="1600"/>
            </a:pPr>
            <a:r>
              <a:t>Approved procurement and implementation pricing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platform provides a reproducible planning and evidence framework for city-scale afforestation decisions. The present outputs are planning-model results and require the stated field and institutional validation before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